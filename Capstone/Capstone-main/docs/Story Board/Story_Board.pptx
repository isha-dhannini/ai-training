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iryani Bold" charset="1" panose="00000800000000000000"/>
      <p:regular r:id="rId15"/>
    </p:embeddedFont>
    <p:embeddedFont>
      <p:font typeface="Biryani Light" charset="1" panose="00000400000000000000"/>
      <p:regular r:id="rId16"/>
    </p:embeddedFont>
    <p:embeddedFont>
      <p:font typeface="Biryani" charset="1" panose="00000500000000000000"/>
      <p:regular r:id="rId17"/>
    </p:embeddedFont>
    <p:embeddedFont>
      <p:font typeface="Alfa Slab One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8.pn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75334" y="3101218"/>
            <a:ext cx="5834178" cy="5834178"/>
          </a:xfrm>
          <a:custGeom>
            <a:avLst/>
            <a:gdLst/>
            <a:ahLst/>
            <a:cxnLst/>
            <a:rect r="r" b="b" t="t" l="l"/>
            <a:pathLst>
              <a:path h="5834178" w="5834178">
                <a:moveTo>
                  <a:pt x="0" y="0"/>
                </a:moveTo>
                <a:lnTo>
                  <a:pt x="5834178" y="0"/>
                </a:lnTo>
                <a:lnTo>
                  <a:pt x="5834178" y="5834178"/>
                </a:lnTo>
                <a:lnTo>
                  <a:pt x="0" y="5834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44773" y="2811411"/>
            <a:ext cx="3488935" cy="2121394"/>
          </a:xfrm>
          <a:custGeom>
            <a:avLst/>
            <a:gdLst/>
            <a:ahLst/>
            <a:cxnLst/>
            <a:rect r="r" b="b" t="t" l="l"/>
            <a:pathLst>
              <a:path h="2121394" w="3488935">
                <a:moveTo>
                  <a:pt x="0" y="0"/>
                </a:moveTo>
                <a:lnTo>
                  <a:pt x="3488935" y="0"/>
                </a:lnTo>
                <a:lnTo>
                  <a:pt x="3488935" y="2121394"/>
                </a:lnTo>
                <a:lnTo>
                  <a:pt x="0" y="21213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658886"/>
            <a:ext cx="18288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597990"/>
                </a:solidFill>
                <a:latin typeface="Biryani Bold"/>
                <a:ea typeface="Biryani Bold"/>
                <a:cs typeface="Biryani Bold"/>
                <a:sym typeface="Biryani Bold"/>
              </a:rPr>
              <a:t> MEET THE HUMAN REVIEWER KAJAL BURIED UNDER A THOUSAND PAGES OF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192449" y="4541932"/>
            <a:ext cx="6434868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  <a:spcBef>
                <a:spcPct val="0"/>
              </a:spcBef>
            </a:pPr>
            <a:r>
              <a:rPr lang="en-US" sz="3265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A CLINICAL REVIEWER’S WORLD IS A STACK OF ENDLESS PAGES, EACH ONE DEMANDING CAREFUL ATTENTION. THIS IS THE MANUAL MOUNTAIN.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17547" y="3378803"/>
            <a:ext cx="2543387" cy="9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721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SO MANY FILES TO GET THROUGH BEFORE THE DAY ENDS.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87861" y="3180216"/>
            <a:ext cx="6553799" cy="6553799"/>
          </a:xfrm>
          <a:custGeom>
            <a:avLst/>
            <a:gdLst/>
            <a:ahLst/>
            <a:cxnLst/>
            <a:rect r="r" b="b" t="t" l="l"/>
            <a:pathLst>
              <a:path h="6553799" w="6553799">
                <a:moveTo>
                  <a:pt x="0" y="0"/>
                </a:moveTo>
                <a:lnTo>
                  <a:pt x="6553799" y="0"/>
                </a:lnTo>
                <a:lnTo>
                  <a:pt x="6553799" y="6553799"/>
                </a:lnTo>
                <a:lnTo>
                  <a:pt x="0" y="6553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3288" y="2544097"/>
            <a:ext cx="3664776" cy="2971800"/>
          </a:xfrm>
          <a:custGeom>
            <a:avLst/>
            <a:gdLst/>
            <a:ahLst/>
            <a:cxnLst/>
            <a:rect r="r" b="b" t="t" l="l"/>
            <a:pathLst>
              <a:path h="2971800" w="3664776">
                <a:moveTo>
                  <a:pt x="0" y="0"/>
                </a:moveTo>
                <a:lnTo>
                  <a:pt x="3664776" y="0"/>
                </a:lnTo>
                <a:lnTo>
                  <a:pt x="3664776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391572"/>
            <a:ext cx="18288000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IT IS 04:00 AM, AND MANUAL HUMAN READING SIMPLY CANNOT SCALE AGAINST THE BACKLOG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4008" y="4734334"/>
            <a:ext cx="7160144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IT’S 4:00 AM. HER SHIFT HAS BEEN NONSTOP, YET ONLY FEW CLAIMS ARE DONE. THE CLOCK RUNS OUT, BUT THE BACKLOG DOESN’T.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5699" y="3180216"/>
            <a:ext cx="4759955" cy="101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1"/>
              </a:lnSpc>
              <a:spcBef>
                <a:spcPct val="0"/>
              </a:spcBef>
            </a:pPr>
            <a:r>
              <a:rPr lang="en-US" sz="2317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I’M BARELY </a:t>
            </a:r>
          </a:p>
          <a:p>
            <a:pPr algn="ctr" marL="0" indent="0" lvl="0">
              <a:lnSpc>
                <a:spcPts val="2781"/>
              </a:lnSpc>
              <a:spcBef>
                <a:spcPct val="0"/>
              </a:spcBef>
            </a:pPr>
            <a:r>
              <a:rPr lang="en-US" sz="2317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MAKING A DENT </a:t>
            </a:r>
          </a:p>
          <a:p>
            <a:pPr algn="ctr" marL="0" indent="0" lvl="0">
              <a:lnSpc>
                <a:spcPts val="2781"/>
              </a:lnSpc>
              <a:spcBef>
                <a:spcPct val="0"/>
              </a:spcBef>
            </a:pPr>
            <a:r>
              <a:rPr lang="en-US" sz="2317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IN THIS PILE.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0748" y="2891891"/>
            <a:ext cx="4755399" cy="4953540"/>
          </a:xfrm>
          <a:custGeom>
            <a:avLst/>
            <a:gdLst/>
            <a:ahLst/>
            <a:cxnLst/>
            <a:rect r="r" b="b" t="t" l="l"/>
            <a:pathLst>
              <a:path h="4953540" w="4755399">
                <a:moveTo>
                  <a:pt x="0" y="0"/>
                </a:moveTo>
                <a:lnTo>
                  <a:pt x="4755399" y="0"/>
                </a:lnTo>
                <a:lnTo>
                  <a:pt x="4755399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45" t="0" r="-234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76147" y="2466969"/>
            <a:ext cx="3104675" cy="2068489"/>
          </a:xfrm>
          <a:custGeom>
            <a:avLst/>
            <a:gdLst/>
            <a:ahLst/>
            <a:cxnLst/>
            <a:rect r="r" b="b" t="t" l="l"/>
            <a:pathLst>
              <a:path h="2068489" w="3104675">
                <a:moveTo>
                  <a:pt x="0" y="0"/>
                </a:moveTo>
                <a:lnTo>
                  <a:pt x="3104674" y="0"/>
                </a:lnTo>
                <a:lnTo>
                  <a:pt x="3104674" y="2068490"/>
                </a:lnTo>
                <a:lnTo>
                  <a:pt x="0" y="2068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1562" y="1391572"/>
            <a:ext cx="161448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A</a:t>
            </a: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FRIEND SEES THE NON-STOP SHIFTS, AND IT HURTS TO WATCH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54008" y="4734334"/>
            <a:ext cx="7160144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HER CLOSEST FR</a:t>
            </a: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IEND RITHIKA WATCHES HER WORK NON-STOP THROUGH EVERY SHIFT. SEEING HER BURIED IN CLAIMS, HER FRIEND FEELS TRULY SAD.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77697" y="2891891"/>
            <a:ext cx="2293811" cy="8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39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IT HURTS TO </a:t>
            </a:r>
          </a:p>
          <a:p>
            <a:pPr algn="ctr" marL="0" indent="0" lvl="0">
              <a:lnSpc>
                <a:spcPts val="2439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SEE YOU THIS </a:t>
            </a:r>
          </a:p>
          <a:p>
            <a:pPr algn="ctr" marL="0" indent="0" lvl="0">
              <a:lnSpc>
                <a:spcPts val="2439"/>
              </a:lnSpc>
              <a:spcBef>
                <a:spcPct val="0"/>
              </a:spcBef>
            </a:pPr>
            <a:r>
              <a:rPr lang="en-US" sz="2033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OVERWHELMED.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5251" y="3479430"/>
            <a:ext cx="5778870" cy="5778870"/>
          </a:xfrm>
          <a:custGeom>
            <a:avLst/>
            <a:gdLst/>
            <a:ahLst/>
            <a:cxnLst/>
            <a:rect r="r" b="b" t="t" l="l"/>
            <a:pathLst>
              <a:path h="5778870" w="5778870">
                <a:moveTo>
                  <a:pt x="0" y="0"/>
                </a:moveTo>
                <a:lnTo>
                  <a:pt x="5778870" y="0"/>
                </a:lnTo>
                <a:lnTo>
                  <a:pt x="5778870" y="5778870"/>
                </a:lnTo>
                <a:lnTo>
                  <a:pt x="0" y="5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27044"/>
            <a:ext cx="4106196" cy="2777281"/>
          </a:xfrm>
          <a:custGeom>
            <a:avLst/>
            <a:gdLst/>
            <a:ahLst/>
            <a:cxnLst/>
            <a:rect r="r" b="b" t="t" l="l"/>
            <a:pathLst>
              <a:path h="2777281" w="4106196">
                <a:moveTo>
                  <a:pt x="0" y="0"/>
                </a:moveTo>
                <a:lnTo>
                  <a:pt x="4106196" y="0"/>
                </a:lnTo>
                <a:lnTo>
                  <a:pt x="4106196" y="2777282"/>
                </a:lnTo>
                <a:lnTo>
                  <a:pt x="0" y="27772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9062" y="1391572"/>
            <a:ext cx="180498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A</a:t>
            </a: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FRIEND SUGGESTS MEDICAL AI REVIEWER, AND THE NURSE IS AMUSED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8861" y="4178666"/>
            <a:ext cx="7160144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HER FR</a:t>
            </a: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IEND OPENS THE MEDICAL AI REVIEWER AND SAYS, “THIS CAN SPEED UP YOUR WORK.” THE NURSE IS AMUSED THAT SUCH HELP EXISTS.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46539" y="3588116"/>
            <a:ext cx="3470518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99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MEDICAL AI REVIEWER READS THE RECORD, RETRIEVES THE EVIDENCE FOR EACH CLAIM ITEM, FLAGS DISCREPANCIES, AND RETURNS A CITED SUMMARY — EVERY LINE TRACEABLE TO A PAGE.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0761" y="2232465"/>
            <a:ext cx="6148933" cy="6148933"/>
          </a:xfrm>
          <a:custGeom>
            <a:avLst/>
            <a:gdLst/>
            <a:ahLst/>
            <a:cxnLst/>
            <a:rect r="r" b="b" t="t" l="l"/>
            <a:pathLst>
              <a:path h="6148933" w="6148933">
                <a:moveTo>
                  <a:pt x="0" y="0"/>
                </a:moveTo>
                <a:lnTo>
                  <a:pt x="6148934" y="0"/>
                </a:lnTo>
                <a:lnTo>
                  <a:pt x="6148934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80379" y="2232465"/>
            <a:ext cx="3097225" cy="2579144"/>
          </a:xfrm>
          <a:custGeom>
            <a:avLst/>
            <a:gdLst/>
            <a:ahLst/>
            <a:cxnLst/>
            <a:rect r="r" b="b" t="t" l="l"/>
            <a:pathLst>
              <a:path h="2579144" w="3097225">
                <a:moveTo>
                  <a:pt x="0" y="0"/>
                </a:moveTo>
                <a:lnTo>
                  <a:pt x="3097225" y="0"/>
                </a:lnTo>
                <a:lnTo>
                  <a:pt x="3097225" y="2579144"/>
                </a:lnTo>
                <a:lnTo>
                  <a:pt x="0" y="2579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6988" y="1391572"/>
            <a:ext cx="1315402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KAJAL</a:t>
            </a: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LEARNS WHAT MEDICAL AI REVIEWER CAN 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08861" y="4178666"/>
            <a:ext cx="7160144" cy="343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1"/>
              </a:lnSpc>
              <a:spcBef>
                <a:spcPct val="0"/>
              </a:spcBef>
            </a:pP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SHE </a:t>
            </a:r>
            <a:r>
              <a:rPr lang="en-US" sz="3759">
                <a:solidFill>
                  <a:srgbClr val="759AAD"/>
                </a:solidFill>
                <a:latin typeface="Biryani"/>
                <a:ea typeface="Biryani"/>
                <a:cs typeface="Biryani"/>
                <a:sym typeface="Biryani"/>
              </a:rPr>
              <a:t>EXPLORES HOW IT READS EVERY RECORD, CITES THE EVIDENCE, AND CLEARS HER QUEUE. EVERYTHING FINALLY CLICKS.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7298" y="3133058"/>
            <a:ext cx="2543387" cy="49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721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THIS MIGHT BE A GAME‑CHANGER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16456" y="3053875"/>
            <a:ext cx="5690960" cy="5690960"/>
          </a:xfrm>
          <a:custGeom>
            <a:avLst/>
            <a:gdLst/>
            <a:ahLst/>
            <a:cxnLst/>
            <a:rect r="r" b="b" t="t" l="l"/>
            <a:pathLst>
              <a:path h="5690960" w="5690960">
                <a:moveTo>
                  <a:pt x="0" y="0"/>
                </a:moveTo>
                <a:lnTo>
                  <a:pt x="5690959" y="0"/>
                </a:lnTo>
                <a:lnTo>
                  <a:pt x="5690959" y="5690960"/>
                </a:lnTo>
                <a:lnTo>
                  <a:pt x="0" y="569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07191" y="2638371"/>
            <a:ext cx="3104675" cy="2068489"/>
          </a:xfrm>
          <a:custGeom>
            <a:avLst/>
            <a:gdLst/>
            <a:ahLst/>
            <a:cxnLst/>
            <a:rect r="r" b="b" t="t" l="l"/>
            <a:pathLst>
              <a:path h="2068489" w="3104675">
                <a:moveTo>
                  <a:pt x="0" y="0"/>
                </a:moveTo>
                <a:lnTo>
                  <a:pt x="3104674" y="0"/>
                </a:lnTo>
                <a:lnTo>
                  <a:pt x="3104674" y="2068489"/>
                </a:lnTo>
                <a:lnTo>
                  <a:pt x="0" y="2068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1962" y="1502185"/>
            <a:ext cx="1736407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A 70% FASTER WORKFLOW WRAPS THE ENTIRE BACKLOG BY 04:00 PM.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38707" y="4308792"/>
            <a:ext cx="569323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  <a:spcBef>
                <a:spcPct val="0"/>
              </a:spcBef>
            </a:pPr>
            <a:r>
              <a:rPr lang="en-US" sz="3623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FIVE CLAIMS A DAY BECOMES FIFTEEN. A 70% QUICKER REVIEW FLOW GIVES HER TIME BACK FOR REAL DECISIONS.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25427" y="3430725"/>
            <a:ext cx="2543387" cy="49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721" strike="noStrike" u="none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HOW DID I EVER WORK WITHOUT THIS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6134" y="2608358"/>
            <a:ext cx="6148933" cy="6148933"/>
          </a:xfrm>
          <a:custGeom>
            <a:avLst/>
            <a:gdLst/>
            <a:ahLst/>
            <a:cxnLst/>
            <a:rect r="r" b="b" t="t" l="l"/>
            <a:pathLst>
              <a:path h="6148933" w="6148933">
                <a:moveTo>
                  <a:pt x="0" y="0"/>
                </a:moveTo>
                <a:lnTo>
                  <a:pt x="6148933" y="0"/>
                </a:lnTo>
                <a:lnTo>
                  <a:pt x="6148933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81375" y="1502185"/>
            <a:ext cx="115252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11"/>
              </a:lnSpc>
              <a:spcBef>
                <a:spcPct val="0"/>
              </a:spcBef>
            </a:pP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WORK</a:t>
            </a:r>
            <a:r>
              <a:rPr lang="en-US" b="true" sz="3759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 ENDS ON TIME, AND LIFE BEGINS AGAIN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38707" y="4308792"/>
            <a:ext cx="5693238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8"/>
              </a:lnSpc>
              <a:spcBef>
                <a:spcPct val="0"/>
              </a:spcBef>
            </a:pPr>
            <a:r>
              <a:rPr lang="en-US" sz="3623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NOW</a:t>
            </a:r>
            <a:r>
              <a:rPr lang="en-US" sz="3623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 SHE PARTIES, SPENDS TIME WITH FAMILY AND FRIENDS, TENDS HER GARDEN, AND SLEEPS AT THE RIGHT TIME.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4353" y="2054347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69106" y="2054347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96733" y="1559722"/>
            <a:ext cx="3677988" cy="2450460"/>
          </a:xfrm>
          <a:custGeom>
            <a:avLst/>
            <a:gdLst/>
            <a:ahLst/>
            <a:cxnLst/>
            <a:rect r="r" b="b" t="t" l="l"/>
            <a:pathLst>
              <a:path h="2450460" w="3677988">
                <a:moveTo>
                  <a:pt x="0" y="0"/>
                </a:moveTo>
                <a:lnTo>
                  <a:pt x="3677988" y="0"/>
                </a:lnTo>
                <a:lnTo>
                  <a:pt x="3677988" y="2450460"/>
                </a:lnTo>
                <a:lnTo>
                  <a:pt x="0" y="2450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65691">
            <a:off x="9819258" y="1450807"/>
            <a:ext cx="2692235" cy="2820437"/>
          </a:xfrm>
          <a:custGeom>
            <a:avLst/>
            <a:gdLst/>
            <a:ahLst/>
            <a:cxnLst/>
            <a:rect r="r" b="b" t="t" l="l"/>
            <a:pathLst>
              <a:path h="2820437" w="2692235">
                <a:moveTo>
                  <a:pt x="0" y="0"/>
                </a:moveTo>
                <a:lnTo>
                  <a:pt x="2692235" y="0"/>
                </a:lnTo>
                <a:lnTo>
                  <a:pt x="2692235" y="2820437"/>
                </a:lnTo>
                <a:lnTo>
                  <a:pt x="0" y="28204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91979"/>
            <a:ext cx="160401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3"/>
              </a:lnSpc>
              <a:spcBef>
                <a:spcPct val="0"/>
              </a:spcBef>
            </a:pPr>
            <a:r>
              <a:rPr lang="en-US" b="true" sz="3477" strike="noStrike" u="none">
                <a:solidFill>
                  <a:srgbClr val="477B9C"/>
                </a:solidFill>
                <a:latin typeface="Biryani Bold"/>
                <a:ea typeface="Biryani Bold"/>
                <a:cs typeface="Biryani Bold"/>
                <a:sym typeface="Biryani Bold"/>
              </a:rPr>
              <a:t>HIGHER PROFITS FOR INSURANCE COMPANIES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38991" y="7188352"/>
            <a:ext cx="4818902" cy="27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0"/>
              </a:lnSpc>
              <a:spcBef>
                <a:spcPct val="0"/>
              </a:spcBef>
            </a:pPr>
            <a:r>
              <a:rPr lang="en-US" sz="3067" strike="noStrike" u="none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INSURANCE COMPANIES USED TO SUFFER HEAVY LOSSES SINCE NURSES COULD MANUALLY REVIEW ONLY A FEW CLAIMS.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69106" y="7291722"/>
            <a:ext cx="6384256" cy="27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80"/>
              </a:lnSpc>
              <a:spcBef>
                <a:spcPct val="0"/>
              </a:spcBef>
            </a:pPr>
            <a:r>
              <a:rPr lang="en-US" sz="3067">
                <a:solidFill>
                  <a:srgbClr val="759AAD"/>
                </a:solidFill>
                <a:latin typeface="Biryani Light"/>
                <a:ea typeface="Biryani Light"/>
                <a:cs typeface="Biryani Light"/>
                <a:sym typeface="Biryani Light"/>
              </a:rPr>
              <a:t>WITH THE GROWING NUMBER OF CLAIMS EVALUATED BY NURSES UTILIZING MEDICAL AI REVIEWERS, INSURANCE COMPANIES ARE REDUCING THEIR LOSSES.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19357" y="1960517"/>
            <a:ext cx="2432741" cy="1442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75"/>
              </a:lnSpc>
              <a:spcBef>
                <a:spcPct val="0"/>
              </a:spcBef>
            </a:pPr>
            <a:r>
              <a:rPr lang="en-US" sz="1646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EXPERIENCING SIGNIFICANT LOSSES AS A RESULT OF NUMEROUS UNREVIEWED AND REIDENTIFIED CLAIMS.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93682" y="2188645"/>
            <a:ext cx="2543387" cy="99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65"/>
              </a:lnSpc>
            </a:pPr>
            <a:r>
              <a:rPr lang="en-US" sz="1721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I HAVE </a:t>
            </a:r>
          </a:p>
          <a:p>
            <a:pPr algn="ctr" marL="0" indent="0" lvl="0">
              <a:lnSpc>
                <a:spcPts val="2065"/>
              </a:lnSpc>
            </a:pPr>
            <a:r>
              <a:rPr lang="en-US" sz="1721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SECURED A SIGNIFICANT</a:t>
            </a:r>
          </a:p>
          <a:p>
            <a:pPr algn="ctr" marL="0" indent="0" lvl="0">
              <a:lnSpc>
                <a:spcPts val="2065"/>
              </a:lnSpc>
              <a:spcBef>
                <a:spcPct val="0"/>
              </a:spcBef>
            </a:pPr>
            <a:r>
              <a:rPr lang="en-US" sz="1721">
                <a:solidFill>
                  <a:srgbClr val="000000"/>
                </a:solidFill>
                <a:latin typeface="Biryani"/>
                <a:ea typeface="Biryani"/>
                <a:cs typeface="Biryani"/>
                <a:sym typeface="Biryani"/>
              </a:rPr>
              <a:t> PROFIT.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1179" y="1691693"/>
            <a:ext cx="8148504" cy="374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445"/>
              </a:lnSpc>
              <a:spcBef>
                <a:spcPct val="0"/>
              </a:spcBef>
            </a:pPr>
            <a:r>
              <a:rPr lang="en-US" sz="14445" strike="noStrike" u="none">
                <a:solidFill>
                  <a:srgbClr val="597990"/>
                </a:solidFill>
                <a:latin typeface="Alfa Slab One"/>
                <a:ea typeface="Alfa Slab One"/>
                <a:cs typeface="Alfa Slab One"/>
                <a:sym typeface="Alfa Slab One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61070" y="3846616"/>
            <a:ext cx="7303887" cy="6270135"/>
          </a:xfrm>
          <a:custGeom>
            <a:avLst/>
            <a:gdLst/>
            <a:ahLst/>
            <a:cxnLst/>
            <a:rect r="r" b="b" t="t" l="l"/>
            <a:pathLst>
              <a:path h="6270135" w="7303887">
                <a:moveTo>
                  <a:pt x="0" y="0"/>
                </a:moveTo>
                <a:lnTo>
                  <a:pt x="7303886" y="0"/>
                </a:lnTo>
                <a:lnTo>
                  <a:pt x="7303886" y="6270136"/>
                </a:lnTo>
                <a:lnTo>
                  <a:pt x="0" y="6270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02774" y="4909478"/>
            <a:ext cx="8286443" cy="4008567"/>
          </a:xfrm>
          <a:custGeom>
            <a:avLst/>
            <a:gdLst/>
            <a:ahLst/>
            <a:cxnLst/>
            <a:rect r="r" b="b" t="t" l="l"/>
            <a:pathLst>
              <a:path h="4008567" w="8286443">
                <a:moveTo>
                  <a:pt x="0" y="0"/>
                </a:moveTo>
                <a:lnTo>
                  <a:pt x="8286442" y="0"/>
                </a:lnTo>
                <a:lnTo>
                  <a:pt x="8286442" y="4008566"/>
                </a:lnTo>
                <a:lnTo>
                  <a:pt x="0" y="400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64984" y="820120"/>
            <a:ext cx="2783789" cy="1842946"/>
          </a:xfrm>
          <a:custGeom>
            <a:avLst/>
            <a:gdLst/>
            <a:ahLst/>
            <a:cxnLst/>
            <a:rect r="r" b="b" t="t" l="l"/>
            <a:pathLst>
              <a:path h="1842946" w="2783789">
                <a:moveTo>
                  <a:pt x="0" y="0"/>
                </a:moveTo>
                <a:lnTo>
                  <a:pt x="2783789" y="0"/>
                </a:lnTo>
                <a:lnTo>
                  <a:pt x="2783789" y="1842946"/>
                </a:lnTo>
                <a:lnTo>
                  <a:pt x="0" y="184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DAHOlPWULz8</dc:identifier>
  <dcterms:modified xsi:type="dcterms:W3CDTF">2011-08-01T06:04:30Z</dcterms:modified>
  <cp:revision>1</cp:revision>
  <dc:title>Visual Scene Description: Close-up on a smartphone screen resting on a dark nightstand. The time reads 6:15 AM. A generic alarm rings aggressively. In the background, out of focus, Maya pulls blankets over her head. Voiceover Narration: "Maya didn't hate</dc:title>
</cp:coreProperties>
</file>